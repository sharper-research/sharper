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2563A8"/>
                </a:solidFill>
                <a:latin typeface="Aptos"/>
              </a:rPr>
              <a:t>AUTOREPAIR · RESEARCH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 i="0">
                <a:solidFill>
                  <a:srgbClr val="1A2332"/>
                </a:solidFill>
                <a:latin typeface="Aptos"/>
              </a:rPr>
              <a:t>Trace-Guided Repair of a Crash in an XSS Sanitizer</a:t>
            </a:r>
          </a:p>
          <a:p>
            <a:r>
              <a:rPr sz="1600" b="0" i="1">
                <a:solidFill>
                  <a:srgbClr val="5B6B7B"/>
                </a:solidFill>
                <a:latin typeface="Aptos"/>
              </a:rPr>
              <a:t>A real, observed unhandled exception detected and patched in a 1.7k-star security library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566160"/>
            <a:ext cx="1828800" cy="4445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3931920"/>
            <a:ext cx="233172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A2332"/>
                </a:solidFill>
                <a:latin typeface="Aptos"/>
              </a:rPr>
              <a:t>Step 1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5B6B7B"/>
                </a:solidFill>
                <a:latin typeface="Aptos"/>
              </a:rPr>
              <a:t>Trace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4366260"/>
            <a:ext cx="457200" cy="0"/>
          </a:xfrm>
          <a:prstGeom prst="line">
            <a:avLst/>
          </a:prstGeom>
          <a:ln w="22225">
            <a:solidFill>
              <a:srgbClr val="2563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3931920"/>
            <a:ext cx="233172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A2332"/>
                </a:solidFill>
                <a:latin typeface="Aptos"/>
              </a:rPr>
              <a:t>Step 2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5B6B7B"/>
                </a:solidFill>
                <a:latin typeface="Aptos"/>
              </a:rPr>
              <a:t>Constraints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97880" y="4366260"/>
            <a:ext cx="457200" cy="0"/>
          </a:xfrm>
          <a:prstGeom prst="line">
            <a:avLst/>
          </a:prstGeom>
          <a:ln w="22225">
            <a:solidFill>
              <a:srgbClr val="2563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5080" y="3931920"/>
            <a:ext cx="2331720" cy="868680"/>
          </a:xfrm>
          <a:prstGeom prst="roundRect">
            <a:avLst>
              <a:gd name="adj" fmla="val 9000"/>
            </a:avLst>
          </a:prstGeom>
          <a:solidFill>
            <a:srgbClr val="E9F0F8"/>
          </a:solidFill>
          <a:ln w="20320">
            <a:solidFill>
              <a:srgbClr val="25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B497E"/>
                </a:solidFill>
                <a:latin typeface="Aptos"/>
              </a:rPr>
              <a:t>Step 3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5B6B7B"/>
                </a:solidFill>
                <a:latin typeface="Aptos"/>
              </a:rPr>
              <a:t>Repair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4366260"/>
            <a:ext cx="457200" cy="0"/>
          </a:xfrm>
          <a:prstGeom prst="line">
            <a:avLst/>
          </a:prstGeom>
          <a:ln w="22225">
            <a:solidFill>
              <a:srgbClr val="2563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3931920"/>
            <a:ext cx="2331720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A2332"/>
                </a:solidFill>
                <a:latin typeface="Aptos"/>
              </a:rPr>
              <a:t>Verify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5B6B7B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2332"/>
                </a:solidFill>
                <a:latin typeface="Aptos"/>
              </a:rPr>
              <a:t>Featured target:  mganss/HtmlSanitizer  ·  1.7k★  ·  MIT  ·  “Cleans HTML to avoid XSS attacks”</a:t>
            </a:r>
          </a:p>
          <a:p>
            <a:r>
              <a:rPr sz="1300" b="1" i="0">
                <a:solidFill>
                  <a:srgbClr val="C0392B"/>
                </a:solidFill>
                <a:latin typeface="Aptos"/>
              </a:rPr>
              <a:t>Bug:  unhandled AngleSharp HtmlParseException on malformed HTML  —  the sanitizer crashes instead of cleaning</a:t>
            </a:r>
          </a:p>
          <a:p>
            <a:r>
              <a:rPr sz="1200" b="0" i="0">
                <a:solidFill>
                  <a:srgbClr val="1B497E"/>
                </a:solidFill>
                <a:latin typeface="Aptos"/>
              </a:rPr>
              <a:t>https://github.com/mganss/HtmlSanitizer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563A8"/>
                </a:solidFill>
                <a:latin typeface="Aptos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2332"/>
                </a:solidFill>
                <a:latin typeface="Aptos"/>
              </a:rPr>
              <a:t>From One Observed Fault to a Candidate 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371600"/>
            <a:ext cx="141732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1">
                <a:solidFill>
                  <a:srgbClr val="5B6B7B"/>
                </a:solidFill>
                <a:latin typeface="Aptos"/>
              </a:rPr>
              <a:t>A forward-only pipeline: capture the failure, derive a constraint, repair toward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1064240" cy="9525"/>
          </a:xfrm>
          <a:prstGeom prst="rect">
            <a:avLst/>
          </a:prstGeom>
          <a:solidFill>
            <a:srgbClr val="D2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0">
                <a:solidFill>
                  <a:srgbClr val="5B6B7B"/>
                </a:solidFill>
                <a:latin typeface="Aptos"/>
              </a:rPr>
              <a:t>AutoRepair · Trace-Guided Repair of Security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5B6B7B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659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i="0">
                <a:solidFill>
                  <a:srgbClr val="1B497E"/>
                </a:solidFill>
                <a:latin typeface="Aptos"/>
              </a:rPr>
              <a:t>Seeded by a real failure:  </a:t>
            </a:r>
            <a:r>
              <a:rPr sz="1600" b="0" i="0">
                <a:solidFill>
                  <a:srgbClr val="1A2332"/>
                </a:solidFill>
                <a:latin typeface="Aptos"/>
              </a:rPr>
              <a:t>instrument the project, run its own test suite once, and record the concrete execution trace.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i="0">
                <a:solidFill>
                  <a:srgbClr val="1B497E"/>
                </a:solidFill>
                <a:latin typeface="Aptos"/>
              </a:rPr>
              <a:t>Derive a constraint:  </a:t>
            </a:r>
            <a:r>
              <a:rPr sz="1600" b="0" i="0">
                <a:solidFill>
                  <a:srgbClr val="1A2332"/>
                </a:solidFill>
                <a:latin typeface="Aptos"/>
              </a:rPr>
              <a:t>from each observed exception, decide whether it is a genuine fault or intentional input validation.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i="0">
                <a:solidFill>
                  <a:srgbClr val="1B497E"/>
                </a:solidFill>
                <a:latin typeface="Aptos"/>
              </a:rPr>
              <a:t>Propagate &amp; repair:  </a:t>
            </a:r>
            <a:r>
              <a:rPr sz="1600" b="0" i="0">
                <a:solidFill>
                  <a:srgbClr val="1A2332"/>
                </a:solidFill>
                <a:latin typeface="Aptos"/>
              </a:rPr>
              <a:t>locate the faulting statement with Roslyn and synthesize a forward guard that satisfies the constraint.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4114800"/>
            <a:ext cx="2148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A2332"/>
                </a:solidFill>
                <a:latin typeface="Aptos"/>
              </a:rPr>
              <a:t>Observed Fault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5B6B7B"/>
                </a:solidFill>
                <a:latin typeface="Aptos"/>
              </a:rPr>
              <a:t>real, thrown exception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24912" y="4617720"/>
            <a:ext cx="182880" cy="0"/>
          </a:xfrm>
          <a:prstGeom prst="line">
            <a:avLst/>
          </a:prstGeom>
          <a:ln w="22225">
            <a:solidFill>
              <a:srgbClr val="2563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07792" y="4114800"/>
            <a:ext cx="2148840" cy="1005840"/>
          </a:xfrm>
          <a:prstGeom prst="roundRect">
            <a:avLst>
              <a:gd name="adj" fmla="val 9000"/>
            </a:avLst>
          </a:prstGeom>
          <a:solidFill>
            <a:srgbClr val="E9F0F8"/>
          </a:solidFill>
          <a:ln w="20320">
            <a:solidFill>
              <a:srgbClr val="25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B497E"/>
                </a:solidFill>
                <a:latin typeface="Aptos"/>
              </a:rPr>
              <a:t>Step 1 · Trace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5B6B7B"/>
                </a:solidFill>
                <a:latin typeface="Aptos"/>
              </a:rPr>
              <a:t>control flow + state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56632" y="4617720"/>
            <a:ext cx="182880" cy="0"/>
          </a:xfrm>
          <a:prstGeom prst="line">
            <a:avLst/>
          </a:prstGeom>
          <a:ln w="22225">
            <a:solidFill>
              <a:srgbClr val="2563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39512" y="4114800"/>
            <a:ext cx="2148840" cy="1005840"/>
          </a:xfrm>
          <a:prstGeom prst="roundRect">
            <a:avLst>
              <a:gd name="adj" fmla="val 9000"/>
            </a:avLst>
          </a:prstGeom>
          <a:solidFill>
            <a:srgbClr val="E9F0F8"/>
          </a:solidFill>
          <a:ln w="20320">
            <a:solidFill>
              <a:srgbClr val="25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B497E"/>
                </a:solidFill>
                <a:latin typeface="Aptos"/>
              </a:rPr>
              <a:t>Step 2 · Constraints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5B6B7B"/>
                </a:solidFill>
                <a:latin typeface="Aptos"/>
              </a:rPr>
              <a:t>violation records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88352" y="4617720"/>
            <a:ext cx="182880" cy="0"/>
          </a:xfrm>
          <a:prstGeom prst="line">
            <a:avLst/>
          </a:prstGeom>
          <a:ln w="22225">
            <a:solidFill>
              <a:srgbClr val="2563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71231" y="4114800"/>
            <a:ext cx="2148840" cy="1005840"/>
          </a:xfrm>
          <a:prstGeom prst="roundRect">
            <a:avLst>
              <a:gd name="adj" fmla="val 9000"/>
            </a:avLst>
          </a:prstGeom>
          <a:solidFill>
            <a:srgbClr val="E9F0F8"/>
          </a:solidFill>
          <a:ln w="20320">
            <a:solidFill>
              <a:srgbClr val="25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B497E"/>
                </a:solidFill>
                <a:latin typeface="Aptos"/>
              </a:rPr>
              <a:t>Step 3 · Locate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5B6B7B"/>
                </a:solidFill>
                <a:latin typeface="Aptos"/>
              </a:rPr>
              <a:t>Roslyn CFG + classify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20071" y="4617720"/>
            <a:ext cx="182880" cy="0"/>
          </a:xfrm>
          <a:prstGeom prst="line">
            <a:avLst/>
          </a:prstGeom>
          <a:ln w="22225">
            <a:solidFill>
              <a:srgbClr val="2563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02952" y="4114800"/>
            <a:ext cx="2148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A2332"/>
                </a:solidFill>
                <a:latin typeface="Aptos"/>
              </a:rPr>
              <a:t>Synthesize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5B6B7B"/>
                </a:solidFill>
                <a:latin typeface="Aptos"/>
              </a:rPr>
              <a:t>forward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B6B7B"/>
                </a:solidFill>
                <a:latin typeface="Aptos"/>
              </a:rPr>
              <a:t>Forward-only by design - no backward / weakest-precondition analysis. Candidate patches then enter a separate validation &amp; oracle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563A8"/>
                </a:solidFill>
                <a:latin typeface="Aptos"/>
              </a:rPr>
              <a:t>OUTPUT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2332"/>
                </a:solidFill>
                <a:latin typeface="Aptos"/>
              </a:rPr>
              <a:t>What the Tool Locates and Emits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371600"/>
            <a:ext cx="141732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1">
                <a:solidFill>
                  <a:srgbClr val="5B6B7B"/>
                </a:solidFill>
                <a:latin typeface="Aptos"/>
              </a:rPr>
              <a:t>For every observed fault, Step 3 produces a precise, classified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1064240" cy="9525"/>
          </a:xfrm>
          <a:prstGeom prst="rect">
            <a:avLst/>
          </a:prstGeom>
          <a:solidFill>
            <a:srgbClr val="D2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0">
                <a:solidFill>
                  <a:srgbClr val="5B6B7B"/>
                </a:solidFill>
                <a:latin typeface="Aptos"/>
              </a:rPr>
              <a:t>AutoRepair · Trace-Guided Repair of Security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5B6B7B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96596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ctr">
              <a:spcAft>
                <a:spcPts val="700"/>
              </a:spcAft>
            </a:pPr>
            <a:r>
              <a:rPr sz="1300" b="1" i="0">
                <a:solidFill>
                  <a:srgbClr val="1B497E"/>
                </a:solidFill>
                <a:latin typeface="Aptos"/>
              </a:rPr>
              <a:t>A located violation contains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file        HtmlSanitizer.cs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method      SanitizeDom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line        404  (faulting statement)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exception   HtmlParseException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detection   reachable-exception (observed)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965960"/>
            <a:ext cx="5623560" cy="676656"/>
          </a:xfrm>
          <a:prstGeom prst="roundRect">
            <a:avLst>
              <a:gd name="adj" fmla="val 5000"/>
            </a:avLst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350" b="1" i="0">
                <a:solidFill>
                  <a:srgbClr val="C0392B"/>
                </a:solidFill>
                <a:latin typeface="Aptos"/>
              </a:rPr>
              <a:t>AutoPatchable  →  generate a forward guard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743200"/>
            <a:ext cx="5623560" cy="676656"/>
          </a:xfrm>
          <a:prstGeom prst="roundRect">
            <a:avLst>
              <a:gd name="adj" fmla="val 5000"/>
            </a:avLst>
          </a:prstGeom>
          <a:solidFill>
            <a:srgbClr val="ECF6EC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350" b="1" i="0">
                <a:solidFill>
                  <a:srgbClr val="2E7D32"/>
                </a:solidFill>
                <a:latin typeface="Aptos"/>
              </a:rPr>
              <a:t>IntentionalValidator  →  skip (by design)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520440"/>
            <a:ext cx="5623560" cy="676656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350" b="1" i="0">
                <a:solidFill>
                  <a:srgbClr val="5B6B7B"/>
                </a:solidFill>
                <a:latin typeface="Aptos"/>
              </a:rPr>
              <a:t>UnsupportedPredicate  →  report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Aptos"/>
              </a:rPr>
              <a:t>We only feature faults backed by an actually-thrown exception in the trace (detection = reachable-exception), so the example is a genuine crash.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" y="5120640"/>
            <a:ext cx="11018520" cy="420624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FFFFFF"/>
                </a:solidFill>
                <a:latin typeface="Aptos"/>
              </a:rPr>
              <a:t>The rest of this deck applies exactly this output model to a real repository - no invented bug.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563A8"/>
                </a:solidFill>
                <a:latin typeface="Aptos"/>
              </a:rPr>
              <a:t>REAL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2332"/>
                </a:solidFill>
                <a:latin typeface="Aptos"/>
              </a:rPr>
              <a:t>The Bug Comes from a Starred Security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371600"/>
            <a:ext cx="141732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1">
                <a:solidFill>
                  <a:srgbClr val="5B6B7B"/>
                </a:solidFill>
                <a:latin typeface="Aptos"/>
              </a:rPr>
              <a:t>mganss/HtmlSanitizer - a real-world XSS-prevention library, not a constructed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1064240" cy="9525"/>
          </a:xfrm>
          <a:prstGeom prst="rect">
            <a:avLst/>
          </a:prstGeom>
          <a:solidFill>
            <a:srgbClr val="D2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0">
                <a:solidFill>
                  <a:srgbClr val="5B6B7B"/>
                </a:solidFill>
                <a:latin typeface="Aptos"/>
              </a:rPr>
              <a:t>AutoRepair · Trace-Guided Repair of Security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5B6B7B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965960"/>
            <a:ext cx="461772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ctr">
              <a:spcAft>
                <a:spcPts val="700"/>
              </a:spcAft>
            </a:pPr>
            <a:r>
              <a:rPr sz="1300" b="1" i="0">
                <a:solidFill>
                  <a:srgbClr val="1B497E"/>
                </a:solidFill>
                <a:latin typeface="Aptos"/>
              </a:rPr>
              <a:t>Repository facts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Stars          1.7k  (224 forks)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Purpose        Clean HTML to stop XSS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Parser         AngleSharp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License        MIT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Pinned commit  7417120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1" i="0">
                <a:solidFill>
                  <a:srgbClr val="1B497E"/>
                </a:solidFill>
                <a:latin typeface="Consolas"/>
              </a:rPr>
              <a:t>Where the fault lives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src/HtmlSanitizer/HtmlSanitizer.cs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0" i="0">
                <a:solidFill>
                  <a:srgbClr val="1A2332"/>
                </a:solidFill>
                <a:latin typeface="Consolas"/>
              </a:rPr>
              <a:t>method  SanitizeDom(string html, ...)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unhandled HtmlParseException (line 404)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965960"/>
            <a:ext cx="6172200" cy="35204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7780">
            <a:solidFill>
              <a:srgbClr val="25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B497E"/>
                </a:solidFill>
                <a:latin typeface="Aptos"/>
              </a:rPr>
              <a:t>▣  Paste GitHub screenshot here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5B6B7B"/>
                </a:solidFill>
                <a:latin typeface="Aptos"/>
              </a:rPr>
              <a:t>(repo header showing 1.7k stars, or the SanitizeDom source)</a:t>
            </a:r>
          </a:p>
          <a:p>
            <a:pPr algn="ctr">
              <a:spcBef>
                <a:spcPts val="1400"/>
              </a:spcBef>
            </a:pPr>
            <a:r>
              <a:rPr sz="1050" b="0" i="0">
                <a:solidFill>
                  <a:srgbClr val="1B497E"/>
                </a:solidFill>
                <a:latin typeface="Aptos"/>
              </a:rPr>
              <a:t>https://github.com/mganss/HtmlSanitizer/blob/7417120cfabea9f359b56f8de6f492adbb0e57da/src/HtmlSanitizer/HtmlSanitizer.cs#L404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563A8"/>
                </a:solidFill>
                <a:latin typeface="Aptos"/>
              </a:rPr>
              <a:t>STEP 1 ·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2332"/>
                </a:solidFill>
                <a:latin typeface="Aptos"/>
              </a:rPr>
              <a:t>The Crash Is Observed at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371600"/>
            <a:ext cx="141732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1">
                <a:solidFill>
                  <a:srgbClr val="5B6B7B"/>
                </a:solidFill>
                <a:latin typeface="Aptos"/>
              </a:rPr>
              <a:t>Running the library's own test suite throws an unhandled parser 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1064240" cy="9525"/>
          </a:xfrm>
          <a:prstGeom prst="rect">
            <a:avLst/>
          </a:prstGeom>
          <a:solidFill>
            <a:srgbClr val="D2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0">
                <a:solidFill>
                  <a:srgbClr val="5B6B7B"/>
                </a:solidFill>
                <a:latin typeface="Aptos"/>
              </a:rPr>
              <a:t>AutoRepair · Trace-Guided Repair of Security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5B6B7B"/>
                </a:solidFill>
                <a:latin typeface="Apto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6596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1B497E"/>
                </a:solidFill>
                <a:latin typeface="Aptos"/>
              </a:rPr>
              <a:t>283,889  </a:t>
            </a:r>
            <a:r>
              <a:rPr sz="1500" b="0" i="0">
                <a:solidFill>
                  <a:srgbClr val="1A2332"/>
                </a:solidFill>
                <a:latin typeface="Aptos"/>
              </a:rPr>
              <a:t>trace events recorded for HtmlSanitizer.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1B497E"/>
                </a:solidFill>
                <a:latin typeface="Aptos"/>
              </a:rPr>
              <a:t>Real input:  </a:t>
            </a:r>
            <a:r>
              <a:rPr sz="1500" b="0" i="0">
                <a:solidFill>
                  <a:srgbClr val="1A2332"/>
                </a:solidFill>
                <a:latin typeface="Aptos"/>
              </a:rPr>
              <a:t>malformed HTML drives AngleSharp's parser to throw.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1B497E"/>
                </a:solidFill>
                <a:latin typeface="Aptos"/>
              </a:rPr>
              <a:t>Actually thrown:  </a:t>
            </a:r>
            <a:r>
              <a:rPr sz="1500" b="0" i="0">
                <a:solidFill>
                  <a:srgbClr val="1A2332"/>
                </a:solidFill>
                <a:latin typeface="Aptos"/>
              </a:rPr>
              <a:t>the trace logs an “Exception Type” event — a genuine crash, seen across several test runs.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1B497E"/>
                </a:solidFill>
                <a:latin typeface="Aptos"/>
              </a:rPr>
              <a:t>Captured:  </a:t>
            </a:r>
            <a:r>
              <a:rPr sz="1500" b="0" i="0">
                <a:solidFill>
                  <a:srgbClr val="1A2332"/>
                </a:solidFill>
                <a:latin typeface="Aptos"/>
              </a:rPr>
              <a:t>exception type, message and full stack, at the exact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965960"/>
            <a:ext cx="5806440" cy="35204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ctr">
              <a:spcAft>
                <a:spcPts val="700"/>
              </a:spcAft>
            </a:pPr>
            <a:r>
              <a:rPr sz="1250" b="1" i="0">
                <a:solidFill>
                  <a:srgbClr val="1B497E"/>
                </a:solidFill>
                <a:latin typeface="Aptos"/>
              </a:rPr>
              <a:t>trace_logs.jsonl  (key events)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50" b="0" i="0">
                <a:solidFill>
                  <a:srgbClr val="1F242B"/>
                </a:solidFill>
                <a:latin typeface="Consolas"/>
              </a:rPr>
              <a:t>Enter Method 'SanitizeDom'            L402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50" b="0" i="0">
                <a:solidFill>
                  <a:srgbClr val="1F242B"/>
                </a:solidFill>
                <a:latin typeface="Consolas"/>
              </a:rPr>
              <a:t>parser = HtmlParserFactory()          L404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50" b="0" i="0">
                <a:solidFill>
                  <a:srgbClr val="1F242B"/>
                </a:solidFill>
                <a:latin typeface="Consolas"/>
              </a:rPr>
              <a:t>ParseDocument("&lt;!doctype..." + html)  L405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50" b="0" i="0">
                <a:solidFill>
                  <a:srgbClr val="1F242B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50" b="1" i="0">
                <a:solidFill>
                  <a:srgbClr val="5B6B7B"/>
                </a:solidFill>
                <a:latin typeface="Consolas"/>
              </a:rPr>
              <a:t>Exception Type   (actually thrown)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Consolas"/>
              </a:rPr>
              <a:t>  AngleSharp.Html.Parser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Consolas"/>
              </a:rPr>
              <a:t>        .HtmlParseException     L402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50" b="0" i="0">
                <a:solidFill>
                  <a:srgbClr val="5B6B7B"/>
                </a:solidFill>
                <a:latin typeface="Consolas"/>
              </a:rPr>
              <a:t>Exception Stack  ... ParseDocument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563A8"/>
                </a:solidFill>
                <a:latin typeface="Aptos"/>
              </a:rPr>
              <a:t>STEP 2 ·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2332"/>
                </a:solidFill>
                <a:latin typeface="Aptos"/>
              </a:rPr>
              <a:t>The Trace Becomes a Constraint Violation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371600"/>
            <a:ext cx="141732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1">
                <a:solidFill>
                  <a:srgbClr val="5B6B7B"/>
                </a:solidFill>
                <a:latin typeface="Aptos"/>
              </a:rPr>
              <a:t>Each unhandled exception is checked against a typing-style safety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1064240" cy="9525"/>
          </a:xfrm>
          <a:prstGeom prst="rect">
            <a:avLst/>
          </a:prstGeom>
          <a:solidFill>
            <a:srgbClr val="D2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0">
                <a:solidFill>
                  <a:srgbClr val="5B6B7B"/>
                </a:solidFill>
                <a:latin typeface="Aptos"/>
              </a:rPr>
              <a:t>AutoRepair · Trace-Guided Repair of Security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5B6B7B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965960"/>
            <a:ext cx="11018520" cy="603504"/>
          </a:xfrm>
          <a:prstGeom prst="roundRect">
            <a:avLst>
              <a:gd name="adj" fmla="val 5000"/>
            </a:avLst>
          </a:prstGeom>
          <a:solidFill>
            <a:srgbClr val="E9F0F8"/>
          </a:solidFill>
          <a:ln w="12700">
            <a:solidFill>
              <a:srgbClr val="25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400" b="1" i="0">
                <a:solidFill>
                  <a:srgbClr val="1A2332"/>
                </a:solidFill>
                <a:latin typeface="Consolas"/>
              </a:rPr>
              <a:t>Rule:   NoUnhandledException(event)   =&gt;   assert  event.exception == null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2743200"/>
            <a:ext cx="11018520" cy="4572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250" b="1" i="0">
                <a:solidFill>
                  <a:srgbClr val="1A2332"/>
                </a:solidFill>
                <a:latin typeface="Consolas"/>
              </a:rPr>
              <a:t>  exception.type                                  file               line  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3246120"/>
            <a:ext cx="110185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Consolas"/>
              </a:rPr>
              <a:t>  AngleSharp.Html.Parser.HtmlParseException       HtmlSanitizer.cs   402    false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3749039"/>
            <a:ext cx="110185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250" b="1" i="0">
                <a:solidFill>
                  <a:srgbClr val="5B6B7B"/>
                </a:solidFill>
                <a:latin typeface="Consolas"/>
              </a:rPr>
              <a:t>  AngleSharp.Html.Parser.HtmlParseException       HtmlSanitizer.cs   387   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526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1B497E"/>
                </a:solidFill>
                <a:latin typeface="Aptos"/>
              </a:rPr>
              <a:t>Result = false:  </a:t>
            </a:r>
            <a:r>
              <a:rPr sz="1500" b="0" i="0">
                <a:solidFill>
                  <a:srgbClr val="1A2332"/>
                </a:solidFill>
                <a:latin typeface="Aptos"/>
              </a:rPr>
              <a:t>the exception reached the top of SanitizeDom unhandled - the rule is violated.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1B497E"/>
                </a:solidFill>
                <a:latin typeface="Aptos"/>
              </a:rPr>
              <a:t>Same fault, two frames:  </a:t>
            </a:r>
            <a:r>
              <a:rPr sz="1500" b="0" i="0">
                <a:solidFill>
                  <a:srgbClr val="1A2332"/>
                </a:solidFill>
                <a:latin typeface="Aptos"/>
              </a:rPr>
              <a:t>it also propagates through the public Sanitize() entry point (line 387).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563A8"/>
                </a:solidFill>
                <a:latin typeface="Aptos"/>
              </a:rPr>
              <a:t>STEP 3 ·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2332"/>
                </a:solidFill>
                <a:latin typeface="Aptos"/>
              </a:rPr>
              <a:t>Located Statement and the Generated 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371600"/>
            <a:ext cx="141732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1">
                <a:solidFill>
                  <a:srgbClr val="5B6B7B"/>
                </a:solidFill>
                <a:latin typeface="Aptos"/>
              </a:rPr>
              <a:t>Roslyn pinpoints SanitizeDom; AutoRepair wraps it in a typed forward 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1064240" cy="9525"/>
          </a:xfrm>
          <a:prstGeom prst="rect">
            <a:avLst/>
          </a:prstGeom>
          <a:solidFill>
            <a:srgbClr val="D2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0">
                <a:solidFill>
                  <a:srgbClr val="5B6B7B"/>
                </a:solidFill>
                <a:latin typeface="Aptos"/>
              </a:rPr>
              <a:t>AutoRepair · Trace-Guided Repair of Security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5B6B7B"/>
                </a:solidFill>
                <a:latin typeface="Aptos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965960"/>
            <a:ext cx="5486400" cy="3749039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09728" bIns="91440"/>
          <a:lstStyle/>
          <a:p>
            <a:pPr algn="ctr">
              <a:spcAft>
                <a:spcPts val="700"/>
              </a:spcAft>
            </a:pPr>
            <a:r>
              <a:rPr sz="1100" b="1" i="0">
                <a:solidFill>
                  <a:srgbClr val="5B6B7B"/>
                </a:solidFill>
                <a:latin typeface="Aptos"/>
              </a:rPr>
              <a:t>Original - HtmlSanitizer.cs · SanitizeDom (line 404)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0F4C81"/>
                </a:solidFill>
                <a:latin typeface="Consolas"/>
              </a:rPr>
              <a:t>public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IHtmlDocument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SanitizeDom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string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html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,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string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baseUrl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=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A31515"/>
                </a:solidFill>
                <a:latin typeface="Consolas"/>
              </a:rPr>
              <a:t>""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var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parser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=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HtmlParserFactory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(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)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var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=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parser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.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ParseDocument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A31515"/>
                </a:solidFill>
                <a:latin typeface="Consolas"/>
              </a:rPr>
              <a:t>"&lt;!doctype html&gt;&lt;html&gt;&lt;body&gt;"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+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html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)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if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(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.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Body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!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=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null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DoSanitize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(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,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.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Body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,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baseUrl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)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65960"/>
            <a:ext cx="5440680" cy="3749039"/>
          </a:xfrm>
          <a:prstGeom prst="roundRect">
            <a:avLst>
              <a:gd name="adj" fmla="val 5000"/>
            </a:avLst>
          </a:prstGeom>
          <a:solidFill>
            <a:srgbClr val="ECF6EC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09728" bIns="91440"/>
          <a:lstStyle/>
          <a:p>
            <a:pPr algn="ctr">
              <a:spcAft>
                <a:spcPts val="700"/>
              </a:spcAft>
            </a:pPr>
            <a:r>
              <a:rPr sz="1100" b="1" i="0">
                <a:solidFill>
                  <a:srgbClr val="5B6B7B"/>
                </a:solidFill>
                <a:latin typeface="Aptos"/>
              </a:rPr>
              <a:t>Generated patch - HtmlSanitizer.L404.diff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2E7D32"/>
                </a:solidFill>
                <a:latin typeface="Consolas"/>
              </a:rPr>
              <a:t>// [AutoRepair Step 3] guard against HtmlParseException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0F4C81"/>
                </a:solidFill>
                <a:latin typeface="Consolas"/>
              </a:rPr>
              <a:t>try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var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parser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=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HtmlParserFactory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(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)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var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=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parser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.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ParseDocument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A31515"/>
                </a:solidFill>
                <a:latin typeface="Consolas"/>
              </a:rPr>
              <a:t>"&lt;!doctype html&gt;&lt;html&gt;&lt;body&gt;"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+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html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)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if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(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.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Body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!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=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null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DoSanitize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(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,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.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Body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,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baseUrl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)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dom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0F4C81"/>
                </a:solidFill>
                <a:latin typeface="Consolas"/>
              </a:rPr>
              <a:t>catch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(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AngleSharp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.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Html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.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Parser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.</a:t>
            </a:r>
            <a:r>
              <a:rPr sz="1200" b="0" i="0">
                <a:solidFill>
                  <a:srgbClr val="267F99"/>
                </a:solidFill>
                <a:latin typeface="Consolas"/>
              </a:rPr>
              <a:t>HtmlParseException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200" b="0" i="0">
                <a:solidFill>
                  <a:srgbClr val="1F242B"/>
                </a:solidFill>
                <a:latin typeface="Consolas"/>
              </a:rPr>
              <a:t>{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0F4C81"/>
                </a:solidFill>
                <a:latin typeface="Consolas"/>
              </a:rPr>
              <a:t>default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!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;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 </a:t>
            </a:r>
            <a:r>
              <a:rPr sz="1200" b="0" i="0">
                <a:solidFill>
                  <a:srgbClr val="1F242B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Aptos"/>
              </a:rPr>
              <a:t>Local and typed: only HtmlParseException is caught; all other behaviour is unchanged. Constraint satisfied - no unhandled parser exception escapes SanitizeDom.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563A8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2332"/>
                </a:solidFill>
                <a:latin typeface="Aptos"/>
              </a:rPr>
              <a:t>Is the Repair Valid?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371600"/>
            <a:ext cx="141732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1">
                <a:solidFill>
                  <a:srgbClr val="5B6B7B"/>
                </a:solidFill>
                <a:latin typeface="Aptos"/>
              </a:rPr>
              <a:t>Honest, evidence-based scope for the real-repository patch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1064240" cy="9525"/>
          </a:xfrm>
          <a:prstGeom prst="rect">
            <a:avLst/>
          </a:prstGeom>
          <a:solidFill>
            <a:srgbClr val="D2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0">
                <a:solidFill>
                  <a:srgbClr val="5B6B7B"/>
                </a:solidFill>
                <a:latin typeface="Aptos"/>
              </a:rPr>
              <a:t>AutoRepair · Trace-Guided Repair of Security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5B6B7B"/>
                </a:solidFill>
                <a:latin typeface="Aptos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965960"/>
            <a:ext cx="5440680" cy="3200400"/>
          </a:xfrm>
          <a:prstGeom prst="roundRect">
            <a:avLst>
              <a:gd name="adj" fmla="val 5000"/>
            </a:avLst>
          </a:prstGeom>
          <a:solidFill>
            <a:srgbClr val="ECF6EC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ctr"/>
            <a:r>
              <a:rPr sz="1700" b="1" i="0">
                <a:solidFill>
                  <a:srgbClr val="2E7D32"/>
                </a:solidFill>
                <a:latin typeface="Aptos"/>
              </a:rPr>
              <a:t>Verified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Aptos"/>
              </a:rPr>
              <a:t>•  Crash is real - an actual thrown exception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Aptos"/>
              </a:rPr>
              <a:t>•  Observed across several independent test runs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Aptos"/>
              </a:rPr>
              <a:t>•  Statement located exactly (SanitizeDom, L404)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Aptos"/>
              </a:rPr>
              <a:t>•  Validation throws are NOT patched (no false +)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Aptos"/>
              </a:rPr>
              <a:t>•  Patch compiles on the real source: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Aptos"/>
              </a:rPr>
              <a:t>•  dotnet build -&gt; 0 errors, 0 warnings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65960"/>
            <a:ext cx="5440680" cy="320040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ctr"/>
            <a:r>
              <a:rPr sz="1700" b="1" i="0">
                <a:solidFill>
                  <a:srgbClr val="1B497E"/>
                </a:solidFill>
                <a:latin typeface="Aptos"/>
              </a:rPr>
              <a:t>Scope / next stage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Aptos"/>
              </a:rPr>
              <a:t>•  Compile-validity is not full behavioural proof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Aptos"/>
              </a:rPr>
              <a:t>•  default! fallback is a safe baseline; an empty
   document is a better domain-aware value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Aptos"/>
              </a:rPr>
              <a:t>•  Behavioural oracles (tests / specs) are the
   dedicated Validation stage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Aptos"/>
              </a:rPr>
              <a:t>•  We exclude heuristic false positives and show
   only actually-thrown exceptions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5440680"/>
            <a:ext cx="3520440" cy="420624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10 repos traced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5440680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1B4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226 violations analyzed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5440680"/>
            <a:ext cx="3520440" cy="42062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 patches compile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563A8"/>
                </a:solidFill>
                <a:latin typeface="Apto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2332"/>
                </a:solidFill>
                <a:latin typeface="Aptos"/>
              </a:rPr>
              <a:t>A Real, Traceable Evidence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371600"/>
            <a:ext cx="1417320" cy="3810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4475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1">
                <a:solidFill>
                  <a:srgbClr val="5B6B7B"/>
                </a:solidFill>
                <a:latin typeface="Aptos"/>
              </a:rPr>
              <a:t>trace event -&gt; constraint violation -&gt; located statement -&gt; classified -&gt; patch -&gt; build-verified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1064240" cy="9525"/>
          </a:xfrm>
          <a:prstGeom prst="rect">
            <a:avLst/>
          </a:prstGeom>
          <a:solidFill>
            <a:srgbClr val="D2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0">
                <a:solidFill>
                  <a:srgbClr val="5B6B7B"/>
                </a:solidFill>
                <a:latin typeface="Aptos"/>
              </a:rPr>
              <a:t>AutoRepair · Trace-Guided Repair of Security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 i="0">
                <a:solidFill>
                  <a:srgbClr val="5B6B7B"/>
                </a:solidFill>
                <a:latin typeface="Aptos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0116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50" b="1" i="0">
                <a:solidFill>
                  <a:srgbClr val="1B497E"/>
                </a:solidFill>
                <a:latin typeface="Aptos"/>
              </a:rPr>
              <a:t>Real &amp; starred:  </a:t>
            </a:r>
            <a:r>
              <a:rPr sz="1650" b="0" i="0">
                <a:solidFill>
                  <a:srgbClr val="1A2332"/>
                </a:solidFill>
                <a:latin typeface="Aptos"/>
              </a:rPr>
              <a:t>the fault is in mganss/HtmlSanitizer (1.7k★), a production XSS-prevention library.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50" b="1" i="0">
                <a:solidFill>
                  <a:srgbClr val="1B497E"/>
                </a:solidFill>
                <a:latin typeface="Aptos"/>
              </a:rPr>
              <a:t>Genuinely observed:  </a:t>
            </a:r>
            <a:r>
              <a:rPr sz="1650" b="0" i="0">
                <a:solidFill>
                  <a:srgbClr val="1A2332"/>
                </a:solidFill>
                <a:latin typeface="Aptos"/>
              </a:rPr>
              <a:t>an actually-thrown HtmlParseException in the trace - not a heuristic guess.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50" b="1" i="0">
                <a:solidFill>
                  <a:srgbClr val="1B497E"/>
                </a:solidFill>
                <a:latin typeface="Aptos"/>
              </a:rPr>
              <a:t>No false positive:  </a:t>
            </a:r>
            <a:r>
              <a:rPr sz="1650" b="0" i="0">
                <a:solidFill>
                  <a:srgbClr val="1A2332"/>
                </a:solidFill>
                <a:latin typeface="Aptos"/>
              </a:rPr>
              <a:t>intentional validation is recognised and left untouched.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50" b="1" i="0">
                <a:solidFill>
                  <a:srgbClr val="1B497E"/>
                </a:solidFill>
                <a:latin typeface="Aptos"/>
              </a:rPr>
              <a:t>Verified:  </a:t>
            </a:r>
            <a:r>
              <a:rPr sz="1650" b="0" i="0">
                <a:solidFill>
                  <a:srgbClr val="1A2332"/>
                </a:solidFill>
                <a:latin typeface="Aptos"/>
              </a:rPr>
              <a:t>the generated guard compiles against the unmodified real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4617720"/>
            <a:ext cx="11018520" cy="114300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2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150" b="1" i="0">
                <a:solidFill>
                  <a:srgbClr val="1B497E"/>
                </a:solidFill>
                <a:latin typeface="Consolas"/>
              </a:rPr>
              <a:t>Repository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https://github.com/mganss/HtmlSanitizer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 i="0">
                <a:solidFill>
                  <a:srgbClr val="1B497E"/>
                </a:solidFill>
                <a:latin typeface="Consolas"/>
              </a:rPr>
              <a:t>Exact faulting method (pinned commit)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https://github.com/mganss/HtmlSanitizer/blob/7417120cfabea9f359b56f8de6f492adbb0e57da/src/HtmlSanitizer/HtmlSanitizer.cs#L404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